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1" autoAdjust="0"/>
    <p:restoredTop sz="94660"/>
  </p:normalViewPr>
  <p:slideViewPr>
    <p:cSldViewPr snapToGrid="0">
      <p:cViewPr varScale="1">
        <p:scale>
          <a:sx n="78" d="100"/>
          <a:sy n="78" d="100"/>
        </p:scale>
        <p:origin x="65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peddadevarajaveed-786/EV-Charging-Optimization-Agen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github.com/peddadevarajaveed-786/EV-Charging-Optimization-Agent-/upload/main"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995857120"/>
              </p:ext>
            </p:extLst>
          </p:nvPr>
        </p:nvGraphicFramePr>
        <p:xfrm>
          <a:off x="1299257" y="2208474"/>
          <a:ext cx="9488082" cy="2727138"/>
        </p:xfrm>
        <a:graphic>
          <a:graphicData uri="http://schemas.openxmlformats.org/drawingml/2006/table">
            <a:tbl>
              <a:tblPr>
                <a:noFill/>
                <a:tableStyleId>{0AAD8F4D-43EB-41E5-8A38-28AB6DFB1B60}</a:tableStyleId>
              </a:tblPr>
              <a:tblGrid>
                <a:gridCol w="2085327">
                  <a:extLst>
                    <a:ext uri="{9D8B030D-6E8A-4147-A177-3AD203B41FA5}">
                      <a16:colId xmlns:a16="http://schemas.microsoft.com/office/drawing/2014/main" val="20000"/>
                    </a:ext>
                  </a:extLst>
                </a:gridCol>
                <a:gridCol w="2467585">
                  <a:extLst>
                    <a:ext uri="{9D8B030D-6E8A-4147-A177-3AD203B41FA5}">
                      <a16:colId xmlns:a16="http://schemas.microsoft.com/office/drawing/2014/main" val="20002"/>
                    </a:ext>
                  </a:extLst>
                </a:gridCol>
                <a:gridCol w="2467585">
                  <a:extLst>
                    <a:ext uri="{9D8B030D-6E8A-4147-A177-3AD203B41FA5}">
                      <a16:colId xmlns:a16="http://schemas.microsoft.com/office/drawing/2014/main" val="20003"/>
                    </a:ext>
                  </a:extLst>
                </a:gridCol>
                <a:gridCol w="2467585">
                  <a:extLst>
                    <a:ext uri="{9D8B030D-6E8A-4147-A177-3AD203B41FA5}">
                      <a16:colId xmlns:a16="http://schemas.microsoft.com/office/drawing/2014/main" val="20004"/>
                    </a:ext>
                  </a:extLst>
                </a:gridCol>
              </a:tblGrid>
              <a:tr h="1224732">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502406">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sz="1400" dirty="0"/>
                        <a:t>PEDDADEVARA JAVEED</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peddadevarajaveed@gmail.com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sz="1600" dirty="0"/>
                        <a:t>9390812711</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Transportation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Electric Vehicle Charging Optimization Agent</a:t>
            </a:r>
            <a:endParaRPr lang="en-IN" sz="2400" dirty="0"/>
          </a:p>
        </p:txBody>
      </p:sp>
      <p:pic>
        <p:nvPicPr>
          <p:cNvPr id="5" name="Picture 4">
            <a:extLst>
              <a:ext uri="{FF2B5EF4-FFF2-40B4-BE49-F238E27FC236}">
                <a16:creationId xmlns:a16="http://schemas.microsoft.com/office/drawing/2014/main" id="{D29BBA03-E1C2-2AC4-7473-F6B5CA82090D}"/>
              </a:ext>
            </a:extLst>
          </p:cNvPr>
          <p:cNvPicPr>
            <a:picLocks noChangeAspect="1"/>
          </p:cNvPicPr>
          <p:nvPr/>
        </p:nvPicPr>
        <p:blipFill>
          <a:blip r:embed="rId3"/>
          <a:stretch>
            <a:fillRect/>
          </a:stretch>
        </p:blipFill>
        <p:spPr>
          <a:xfrm>
            <a:off x="4132384" y="3572043"/>
            <a:ext cx="1107831" cy="114063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924425"/>
          </a:xfrm>
          <a:prstGeom prst="rect">
            <a:avLst/>
          </a:prstGeom>
          <a:noFill/>
        </p:spPr>
        <p:txBody>
          <a:bodyPr wrap="square" rtlCol="0">
            <a:spAutoFit/>
          </a:bodyPr>
          <a:lstStyle/>
          <a:p>
            <a:pPr algn="just"/>
            <a:r>
              <a:rPr lang="en-US" sz="1800" b="1" dirty="0"/>
              <a:t>The Challenge:</a:t>
            </a:r>
            <a:endParaRPr lang="en-IN" sz="1800" b="1" dirty="0"/>
          </a:p>
          <a:p>
            <a:pPr algn="just"/>
            <a:r>
              <a:rPr lang="en-US" sz="1600" dirty="0"/>
              <a:t>With the rapid growth of electric vehicles (EVs), charging stations often face high demand, uneven usage, and inefficient energy distribution. Peak-hour charging can overload the grid and increase electricity costs for both operators and users. There is a need for an intelligent system that can analyze charging patterns and optimize EV charging schedules.</a:t>
            </a:r>
            <a:endParaRPr lang="en-IN" sz="1600" dirty="0"/>
          </a:p>
          <a:p>
            <a:pPr algn="just"/>
            <a:r>
              <a:rPr lang="en-US" sz="1800" b="1" dirty="0"/>
              <a:t>The Objective:</a:t>
            </a:r>
            <a:endParaRPr lang="en-IN" sz="1800" b="1" dirty="0"/>
          </a:p>
          <a:p>
            <a:pPr algn="just"/>
            <a:r>
              <a:rPr lang="en-US" sz="1600" dirty="0"/>
              <a:t>Build an Electric Vehicle Charging Optimization Agent that analyzes charging station usage data and provides intelligent recommendations to optimize charging schedules and energy usage.</a:t>
            </a:r>
            <a:endParaRPr lang="en-IN" sz="1600" dirty="0"/>
          </a:p>
          <a:p>
            <a:pPr lvl="0" algn="just"/>
            <a:r>
              <a:rPr lang="en-US" sz="1800" b="1" dirty="0"/>
              <a:t>Charging Pattern Analysis:</a:t>
            </a:r>
            <a:r>
              <a:rPr lang="en-US" sz="1600" dirty="0"/>
              <a:t> </a:t>
            </a:r>
          </a:p>
          <a:p>
            <a:pPr lvl="0" algn="just"/>
            <a:r>
              <a:rPr lang="en-US" sz="1600" dirty="0"/>
              <a:t>Analyze historical EV charging data to understand peak usage hours, charging demand, and station utilization.</a:t>
            </a:r>
            <a:endParaRPr lang="en-IN" sz="1600" dirty="0"/>
          </a:p>
          <a:p>
            <a:pPr lvl="0" algn="just"/>
            <a:r>
              <a:rPr lang="en-US" sz="1800" b="1" dirty="0"/>
              <a:t>Charging Schedule Optimization:</a:t>
            </a:r>
          </a:p>
          <a:p>
            <a:pPr lvl="0" algn="just"/>
            <a:r>
              <a:rPr lang="en-US" sz="1600" dirty="0"/>
              <a:t>Recommend optimal charging schedules to balance demand and reduce peak-hour congestion.</a:t>
            </a:r>
            <a:endParaRPr lang="en-IN" sz="1600" dirty="0"/>
          </a:p>
          <a:p>
            <a:pPr lvl="0" algn="just"/>
            <a:r>
              <a:rPr lang="en-US" sz="1800" b="1" dirty="0"/>
              <a:t>Energy Demand Prediction:</a:t>
            </a:r>
          </a:p>
          <a:p>
            <a:pPr lvl="0" algn="just"/>
            <a:r>
              <a:rPr lang="en-US" sz="1600" dirty="0"/>
              <a:t>Predict future charging demand based on historical patterns and user behavior.</a:t>
            </a:r>
            <a:endParaRPr lang="en-IN" sz="1600" dirty="0"/>
          </a:p>
          <a:p>
            <a:pPr lvl="0" algn="just"/>
            <a:r>
              <a:rPr lang="en-US" sz="1800" b="1" dirty="0"/>
              <a:t>Cost Optimization Insights:</a:t>
            </a:r>
          </a:p>
          <a:p>
            <a:pPr lvl="0" algn="just"/>
            <a:r>
              <a:rPr lang="en-US" sz="1600" dirty="0"/>
              <a:t>Suggest charging during low-tariff periods to reduce electricity costs for EV users and charging station operators.</a:t>
            </a:r>
            <a:endParaRPr lang="en-IN" sz="1600" dirty="0"/>
          </a:p>
          <a:p>
            <a:pPr algn="just"/>
            <a:r>
              <a:rPr lang="en-IN" sz="1600" b="1" dirty="0"/>
              <a:t>Tech Stack (Mandatory):</a:t>
            </a:r>
            <a:endParaRPr lang="en-IN" sz="1600" dirty="0"/>
          </a:p>
          <a:p>
            <a:pPr lvl="0" algn="just"/>
            <a:r>
              <a:rPr lang="en-IN" sz="1600" dirty="0"/>
              <a:t>IBM Bob + IBM Cloud + IBM Granite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704088"/>
            <a:ext cx="10607039" cy="461665"/>
          </a:xfrm>
          <a:prstGeom prst="rect">
            <a:avLst/>
          </a:prstGeom>
          <a:noFill/>
        </p:spPr>
        <p:txBody>
          <a:bodyPr wrap="square" rtlCol="0">
            <a:spAutoFit/>
          </a:bodyPr>
          <a:lstStyle/>
          <a:p>
            <a:r>
              <a:rPr lang="en-US" sz="2400" b="1" dirty="0"/>
              <a:t>Problem Statement – Electric Vehicle Charging Optimization Agent</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81863" cy="5447645"/>
          </a:xfrm>
          <a:prstGeom prst="rect">
            <a:avLst/>
          </a:prstGeom>
          <a:noFill/>
        </p:spPr>
        <p:txBody>
          <a:bodyPr wrap="square" rtlCol="0">
            <a:spAutoFit/>
          </a:bodyPr>
          <a:lstStyle/>
          <a:p>
            <a:pPr algn="just"/>
            <a:r>
              <a:rPr lang="en-IN" sz="1600" dirty="0"/>
              <a:t>The proposed solution is to develop an intelligent Electric Vehicle (EV) Charging Optimization Agent that helps EV users find the most suitable charging stations based on their location, battery level, charging requirements, and station availability. The system provides real-time information about nearby charging stations, charging speed, and estimated charging costs, helping users make better charging decisions.</a:t>
            </a:r>
          </a:p>
          <a:p>
            <a:pPr algn="just"/>
            <a:r>
              <a:rPr lang="en-IN" sz="1600" dirty="0"/>
              <a:t>The agent uses Artificial Intelligence (AI) and optimization algorithms to identify the best charging time and station by considering electricity prices, traffic conditions, waiting times, and energy demand. It can recommend off-peak charging periods when electricity costs are lower and distribute charging demand efficiently across available stations. This helps reduce charging expenses, avoid overcrowding, and improve the utilization of charging infrastructure.</a:t>
            </a:r>
          </a:p>
          <a:p>
            <a:pPr algn="just"/>
            <a:r>
              <a:rPr lang="en-IN" sz="1600" dirty="0"/>
              <a:t>The system aims to provide a user-friendly and efficient charging experience through a mobile or web application. It can offer route-based charging recommendations, estimated battery charging time, and notifications about charging station availability. By optimizing energy consumption and reducing unnecessary travel to unavailable stations, the proposed solution supports sustainable transportation, improves energy efficiency, and encourages the adoption of electric vehicles.</a:t>
            </a:r>
          </a:p>
          <a:p>
            <a:pPr algn="just" fontAlgn="base"/>
            <a:r>
              <a:rPr lang="en-IN" sz="1600" dirty="0"/>
              <a:t>The proposed system can also integrate with smart grids and renewable energy sources, such as solar and wind power, to make EV charging more sustainable. It can prioritize charging when renewable energy is available and adjust charging schedules according to electricity demand. The system can further </a:t>
            </a:r>
            <a:r>
              <a:rPr lang="en-IN" sz="1600" dirty="0" err="1"/>
              <a:t>analyze</a:t>
            </a:r>
            <a:r>
              <a:rPr lang="en-IN" sz="1600" dirty="0"/>
              <a:t> user charging patterns to provide personalized recommendations and improve its performance over time. This approach helps reduce carbon emissions, balance the electricity load, lower charging costs, and create a smarter and more reliable electric vehicle charging network.</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10554044" cy="461665"/>
          </a:xfrm>
          <a:prstGeom prst="rect">
            <a:avLst/>
          </a:prstGeom>
          <a:noFill/>
        </p:spPr>
        <p:txBody>
          <a:bodyPr wrap="square" rtlCol="0">
            <a:spAutoFit/>
          </a:bodyPr>
          <a:lstStyle/>
          <a:p>
            <a:r>
              <a:rPr lang="en-US" sz="2400" b="1" dirty="0"/>
              <a:t>Proposed Solution – Electric Charging Optimization Agent</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293209"/>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t>IBM Bob platform </a:t>
            </a:r>
            <a:r>
              <a:rPr lang="en-US" sz="1800" dirty="0"/>
              <a:t>-</a:t>
            </a:r>
            <a:r>
              <a:rPr lang="en-IN" sz="1800" dirty="0"/>
              <a:t> For designing and orchestrating multi-agent workflows to optimize EV charging schedules, select suitable charging stations, and coordinate charging decisions.</a:t>
            </a:r>
            <a:endParaRPr lang="en-US" sz="1800" dirty="0"/>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RAG</a:t>
            </a:r>
            <a:r>
              <a:rPr lang="en-IN" sz="1800" b="1" dirty="0"/>
              <a:t>(Retrieval-Augmented Generation) </a:t>
            </a:r>
            <a:r>
              <a:rPr lang="en-US" sz="1800" b="1" dirty="0"/>
              <a:t>– </a:t>
            </a:r>
            <a:r>
              <a:rPr lang="en-IN" sz="1800" dirty="0"/>
              <a:t>To retrieve real-time and relevant data about EV charging stations, electricity prices, station availability, and charging requirements before generating intelligent recommendations.</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IN" sz="1800" b="1" dirty="0"/>
              <a:t>Vector Database (FAISS/Chroma) </a:t>
            </a:r>
            <a:r>
              <a:rPr lang="en-IN" sz="1800" dirty="0"/>
              <a:t>– For storing and retrieving relevant EV charging information, station details, and energy-management knowledge to support fast, context-aware recommendations through RAG.</a:t>
            </a: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a:t>
            </a:r>
            <a:r>
              <a:rPr lang="en-US" sz="1800"/>
              <a:t>css </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pic>
        <p:nvPicPr>
          <p:cNvPr id="4" name="Picture 3">
            <a:extLst>
              <a:ext uri="{FF2B5EF4-FFF2-40B4-BE49-F238E27FC236}">
                <a16:creationId xmlns:a16="http://schemas.microsoft.com/office/drawing/2014/main" id="{77C6425D-B361-EBAD-0936-05BCB599266C}"/>
              </a:ext>
            </a:extLst>
          </p:cNvPr>
          <p:cNvPicPr>
            <a:picLocks noChangeAspect="1"/>
          </p:cNvPicPr>
          <p:nvPr/>
        </p:nvPicPr>
        <p:blipFill>
          <a:blip r:embed="rId3"/>
          <a:stretch>
            <a:fillRect/>
          </a:stretch>
        </p:blipFill>
        <p:spPr>
          <a:xfrm>
            <a:off x="3067665" y="1255054"/>
            <a:ext cx="8968755" cy="527970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51271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A9E870-8434-4788-F195-48DCEFBD0A49}"/>
              </a:ext>
            </a:extLst>
          </p:cNvPr>
          <p:cNvPicPr>
            <a:picLocks noChangeAspect="1"/>
          </p:cNvPicPr>
          <p:nvPr/>
        </p:nvPicPr>
        <p:blipFill>
          <a:blip r:embed="rId2"/>
          <a:stretch>
            <a:fillRect/>
          </a:stretch>
        </p:blipFill>
        <p:spPr>
          <a:xfrm>
            <a:off x="402523" y="511093"/>
            <a:ext cx="11386954" cy="5835814"/>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B5A789F1-D0A2-5465-6E03-115CA9C69BC8}"/>
              </a:ext>
            </a:extLst>
          </p:cNvPr>
          <p:cNvPicPr>
            <a:picLocks noChangeAspect="1"/>
          </p:cNvPicPr>
          <p:nvPr/>
        </p:nvPicPr>
        <p:blipFill>
          <a:blip r:embed="rId3"/>
          <a:stretch>
            <a:fillRect/>
          </a:stretch>
        </p:blipFill>
        <p:spPr>
          <a:xfrm>
            <a:off x="537590" y="855406"/>
            <a:ext cx="11243186" cy="5621593"/>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739759"/>
          </a:xfrm>
          <a:prstGeom prst="rect">
            <a:avLst/>
          </a:prstGeom>
          <a:noFill/>
        </p:spPr>
        <p:txBody>
          <a:bodyPr wrap="square" rtlCol="0">
            <a:spAutoFit/>
          </a:bodyPr>
          <a:lstStyle/>
          <a:p>
            <a:pPr algn="just"/>
            <a:r>
              <a:rPr lang="en-IN" sz="1600" b="1" dirty="0"/>
              <a:t>Role of Agentic AI in the Solution:</a:t>
            </a:r>
          </a:p>
          <a:p>
            <a:pPr algn="just"/>
            <a:r>
              <a:rPr lang="en-IN" sz="1600" dirty="0"/>
              <a:t>Agentic AI plays a key role in the Electric Vehicle Charging Optimization Agent by autonomously </a:t>
            </a:r>
            <a:r>
              <a:rPr lang="en-IN" sz="1600" dirty="0" err="1"/>
              <a:t>analyzing</a:t>
            </a:r>
            <a:r>
              <a:rPr lang="en-IN" sz="1600" dirty="0"/>
              <a:t> charging requirements, making intelligent decisions, and recommending optimal charging solutions.</a:t>
            </a:r>
          </a:p>
          <a:p>
            <a:pPr algn="just"/>
            <a:r>
              <a:rPr lang="en-IN" sz="1600" b="1" dirty="0"/>
              <a:t>1. Intelligent Decision-Making:</a:t>
            </a:r>
            <a:r>
              <a:rPr lang="en-IN" sz="1600" dirty="0"/>
              <a:t> </a:t>
            </a:r>
            <a:r>
              <a:rPr lang="en-IN" sz="1600" dirty="0" err="1"/>
              <a:t>Analyzes</a:t>
            </a:r>
            <a:r>
              <a:rPr lang="en-IN" sz="1600" dirty="0"/>
              <a:t> battery levels, user preferences, electricity prices, and charging requirements to select the most suitable charging option.</a:t>
            </a:r>
          </a:p>
          <a:p>
            <a:pPr algn="just"/>
            <a:r>
              <a:rPr lang="en-IN" sz="1600" b="1" dirty="0"/>
              <a:t>2. Real-Time Data Analysis: </a:t>
            </a:r>
            <a:r>
              <a:rPr lang="en-IN" sz="1600" dirty="0"/>
              <a:t>Retrieves charging station availability, charging rates, and electricity prices to provide updated recommendations.</a:t>
            </a:r>
          </a:p>
          <a:p>
            <a:pPr algn="just"/>
            <a:r>
              <a:rPr lang="en-IN" sz="1600" b="1" dirty="0"/>
              <a:t>3. Charging Schedule Optimization:</a:t>
            </a:r>
            <a:r>
              <a:rPr lang="en-IN" sz="1600" dirty="0"/>
              <a:t> Automatically identifies the best charging time based on electricity costs, energy demand, and user requirements.</a:t>
            </a:r>
          </a:p>
          <a:p>
            <a:pPr algn="just"/>
            <a:r>
              <a:rPr lang="en-IN" sz="1600" b="1" dirty="0"/>
              <a:t>4. Smart Route and Station Selection: </a:t>
            </a:r>
            <a:r>
              <a:rPr lang="en-IN" sz="1600" dirty="0"/>
              <a:t>Recommends suitable charging stations along the user's route to reduce unnecessary travel and waiting time.</a:t>
            </a:r>
          </a:p>
          <a:p>
            <a:pPr algn="just"/>
            <a:r>
              <a:rPr lang="en-IN" sz="1600" b="1" dirty="0"/>
              <a:t>5. Continuous Monitoring and Adaptation: </a:t>
            </a:r>
            <a:r>
              <a:rPr lang="en-IN" sz="1600" dirty="0"/>
              <a:t>Monitors changes in station availability and electricity prices and adjusts recommendations accordingly.</a:t>
            </a:r>
          </a:p>
          <a:p>
            <a:pPr algn="just"/>
            <a:r>
              <a:rPr lang="en-IN" sz="1600" b="1" dirty="0"/>
              <a:t>6. Energy Efficiency and Cost Reduction:</a:t>
            </a:r>
            <a:r>
              <a:rPr lang="en-IN" sz="1600" dirty="0"/>
              <a:t> Helps reduce charging expenses, balance electricity demand, improve charging station utilization, and support sustainable transportation.</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307875" y="2446329"/>
            <a:ext cx="5424332" cy="2857500"/>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25ECC3F7-931B-A9FE-FFC7-F4A451DCFA9B}"/>
              </a:ext>
            </a:extLst>
          </p:cNvPr>
          <p:cNvPicPr>
            <a:picLocks noChangeAspect="1"/>
          </p:cNvPicPr>
          <p:nvPr/>
        </p:nvPicPr>
        <p:blipFill>
          <a:blip r:embed="rId3"/>
          <a:stretch>
            <a:fillRect/>
          </a:stretch>
        </p:blipFill>
        <p:spPr>
          <a:xfrm>
            <a:off x="250585" y="2353412"/>
            <a:ext cx="5424333" cy="2950418"/>
          </a:xfrm>
          <a:prstGeom prst="rect">
            <a:avLst/>
          </a:prstGeom>
        </p:spPr>
      </p:pic>
      <p:pic>
        <p:nvPicPr>
          <p:cNvPr id="6" name="Picture 5">
            <a:extLst>
              <a:ext uri="{FF2B5EF4-FFF2-40B4-BE49-F238E27FC236}">
                <a16:creationId xmlns:a16="http://schemas.microsoft.com/office/drawing/2014/main" id="{38A28766-EFDC-AEE6-DB06-C2CD0E97D365}"/>
              </a:ext>
            </a:extLst>
          </p:cNvPr>
          <p:cNvPicPr>
            <a:picLocks noChangeAspect="1"/>
          </p:cNvPicPr>
          <p:nvPr/>
        </p:nvPicPr>
        <p:blipFill>
          <a:blip r:embed="rId4"/>
          <a:stretch>
            <a:fillRect/>
          </a:stretch>
        </p:blipFill>
        <p:spPr>
          <a:xfrm>
            <a:off x="5964792" y="2446329"/>
            <a:ext cx="5919333" cy="2857500"/>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8FE4E732-5F24-2EC5-5898-1AF5F89395B4}"/>
              </a:ext>
            </a:extLst>
          </p:cNvPr>
          <p:cNvPicPr>
            <a:picLocks noChangeAspect="1"/>
          </p:cNvPicPr>
          <p:nvPr/>
        </p:nvPicPr>
        <p:blipFill>
          <a:blip r:embed="rId3"/>
          <a:stretch>
            <a:fillRect/>
          </a:stretch>
        </p:blipFill>
        <p:spPr>
          <a:xfrm>
            <a:off x="720765" y="816977"/>
            <a:ext cx="10750469" cy="579030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4C177BC6-5214-D71C-D908-51E82463F7A4}"/>
              </a:ext>
            </a:extLst>
          </p:cNvPr>
          <p:cNvPicPr>
            <a:picLocks noChangeAspect="1"/>
          </p:cNvPicPr>
          <p:nvPr/>
        </p:nvPicPr>
        <p:blipFill>
          <a:blip r:embed="rId3"/>
          <a:stretch>
            <a:fillRect/>
          </a:stretch>
        </p:blipFill>
        <p:spPr>
          <a:xfrm>
            <a:off x="637191" y="892851"/>
            <a:ext cx="10917618" cy="570077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BCB22C45-1608-909F-8928-D73DEDD1E7D6}"/>
              </a:ext>
            </a:extLst>
          </p:cNvPr>
          <p:cNvPicPr>
            <a:picLocks noChangeAspect="1"/>
          </p:cNvPicPr>
          <p:nvPr/>
        </p:nvPicPr>
        <p:blipFill>
          <a:blip r:embed="rId3"/>
          <a:stretch>
            <a:fillRect/>
          </a:stretch>
        </p:blipFill>
        <p:spPr>
          <a:xfrm>
            <a:off x="409143" y="833341"/>
            <a:ext cx="11373713" cy="581979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888734" cy="4985980"/>
          </a:xfrm>
          <a:prstGeom prst="rect">
            <a:avLst/>
          </a:prstGeom>
          <a:noFill/>
        </p:spPr>
        <p:txBody>
          <a:bodyPr wrap="square" rtlCol="0">
            <a:spAutoFit/>
          </a:bodyPr>
          <a:lstStyle/>
          <a:p>
            <a:pPr algn="just"/>
            <a:r>
              <a:rPr lang="en-IN" sz="1600" dirty="0"/>
              <a:t>The proposed Electric Vehicle Charging Optimization Agent stands out by combining Agentic AI, RAG, and intelligent optimization into a single smart charging system.</a:t>
            </a:r>
          </a:p>
          <a:p>
            <a:pPr algn="just"/>
            <a:r>
              <a:rPr lang="en-IN" sz="1600" b="1" dirty="0"/>
              <a:t>Multi-Agent Intelligence</a:t>
            </a:r>
            <a:r>
              <a:rPr lang="en-IN" sz="1600" dirty="0"/>
              <a:t> – Multiple specialized agents collaborate to </a:t>
            </a:r>
            <a:r>
              <a:rPr lang="en-IN" sz="1600" dirty="0" err="1"/>
              <a:t>analyze</a:t>
            </a:r>
            <a:r>
              <a:rPr lang="en-IN" sz="1600" dirty="0"/>
              <a:t> battery levels, charging station availability, electricity prices, and user requirements to recommend optimal charging solutions.</a:t>
            </a:r>
          </a:p>
          <a:p>
            <a:pPr algn="just"/>
            <a:r>
              <a:rPr lang="en-IN" sz="1600" b="1" dirty="0"/>
              <a:t>RAG-Based Accuracy</a:t>
            </a:r>
            <a:r>
              <a:rPr lang="en-IN" sz="1600" dirty="0"/>
              <a:t> – Retrieves relevant and updated information about charging stations, charging rates, and energy-management guidelines before generating recommendations, improving their reliability.</a:t>
            </a:r>
          </a:p>
          <a:p>
            <a:pPr algn="just"/>
            <a:r>
              <a:rPr lang="en-IN" sz="1600" b="1" dirty="0"/>
              <a:t>Intelligent Charging Optimization</a:t>
            </a:r>
            <a:r>
              <a:rPr lang="en-IN" sz="1600" dirty="0"/>
              <a:t> – Optimizes charging schedules based on electricity prices, battery requirements, energy demand, and user preferences to reduce charging costs.</a:t>
            </a:r>
          </a:p>
          <a:p>
            <a:pPr algn="just"/>
            <a:r>
              <a:rPr lang="en-IN" sz="1600" b="1" dirty="0"/>
              <a:t>Real-Time Feedback Loop</a:t>
            </a:r>
            <a:r>
              <a:rPr lang="en-IN" sz="1600" dirty="0"/>
              <a:t> – Continuously adapts recommendations when station availability, electricity prices, traffic conditions, or charging requirements change.</a:t>
            </a:r>
          </a:p>
          <a:p>
            <a:pPr algn="just"/>
            <a:r>
              <a:rPr lang="en-IN" sz="1600" b="1" dirty="0"/>
              <a:t>Smart Route and Station Selection </a:t>
            </a:r>
            <a:r>
              <a:rPr lang="en-IN" sz="1600" dirty="0"/>
              <a:t>– Suggests suitable charging stations along the user's route to reduce unnecessary travel, waiting time, and range anxiety.</a:t>
            </a:r>
          </a:p>
          <a:p>
            <a:pPr algn="just"/>
            <a:r>
              <a:rPr lang="en-IN" sz="1600" b="1" dirty="0"/>
              <a:t>Sustainable Energy Management </a:t>
            </a:r>
            <a:r>
              <a:rPr lang="en-IN" sz="1600" dirty="0"/>
              <a:t>– Encourages off-peak charging and the use of renewable energy when available, helping reduce electricity demand during peak periods and supporting sustainable transportation.</a:t>
            </a:r>
          </a:p>
          <a:p>
            <a:pPr algn="just"/>
            <a:r>
              <a:rPr lang="en-IN" sz="1600" b="1" dirty="0"/>
              <a:t>Scalable and Intelligent Architecture </a:t>
            </a:r>
            <a:r>
              <a:rPr lang="en-IN" sz="1600" dirty="0"/>
              <a:t>– Can use an agent orchestration platform, a RAG pipeline, and a vector database such as FAISS or Chroma to coordinate specialized agents and retrieve relevant charging information efficiently.</a:t>
            </a:r>
          </a:p>
          <a:p>
            <a:pPr algn="just"/>
            <a:r>
              <a:rPr lang="en-IN" sz="1600" dirty="0"/>
              <a:t>This makes the solution a smart, adaptive, and proactive EV charging assistant rather than a simple charging station locator.</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754552" cy="4277001"/>
          </a:xfrm>
          <a:prstGeom prst="rect">
            <a:avLst/>
          </a:prstGeom>
          <a:noFill/>
          <a:ln>
            <a:noFill/>
          </a:ln>
        </p:spPr>
        <p:txBody>
          <a:bodyPr spcFirstLastPara="1" wrap="square" lIns="0" tIns="0" rIns="0" bIns="0" anchor="t" anchorCtr="0">
            <a:noAutofit/>
          </a:bodyPr>
          <a:lstStyle/>
          <a:p>
            <a:pPr algn="just"/>
            <a:r>
              <a:rPr lang="en-IN" sz="2000" b="1" dirty="0"/>
              <a:t>GitHub Repository Name:</a:t>
            </a:r>
            <a:r>
              <a:rPr lang="en-IN" sz="2000" dirty="0"/>
              <a:t> EV-Charging-Optimization-Agent</a:t>
            </a:r>
          </a:p>
          <a:p>
            <a:pPr algn="just"/>
            <a:r>
              <a:rPr lang="en-IN" sz="2000" b="1" dirty="0"/>
              <a:t>Repository Type:</a:t>
            </a:r>
            <a:r>
              <a:rPr lang="en-IN" sz="2000" dirty="0"/>
              <a:t> Public</a:t>
            </a:r>
          </a:p>
          <a:p>
            <a:pPr algn="just"/>
            <a:r>
              <a:rPr lang="en-IN" sz="2000" b="1" dirty="0"/>
              <a:t>GitHub Repository URL:</a:t>
            </a:r>
            <a:r>
              <a:rPr lang="en-IN" sz="2000" dirty="0"/>
              <a:t> </a:t>
            </a:r>
          </a:p>
          <a:p>
            <a:pPr algn="just"/>
            <a:r>
              <a:rPr lang="en-IN" sz="2000" dirty="0">
                <a:hlinkClick r:id="rId3"/>
              </a:rPr>
              <a:t>https://github.com/peddadevarajaveed-786/EV-Charging-Optimization-Agent-</a:t>
            </a:r>
            <a:r>
              <a:rPr lang="en-IN" sz="2000" dirty="0">
                <a:hlinkClick r:id="rId4"/>
              </a:rPr>
              <a:t>/upload/main</a:t>
            </a:r>
            <a:endParaRPr lang="en-IN" sz="2000" dirty="0"/>
          </a:p>
          <a:p>
            <a:pPr algn="just"/>
            <a:r>
              <a:rPr lang="en-IN" sz="2000" b="1" dirty="0"/>
              <a:t>Files Uploaded:</a:t>
            </a:r>
            <a:endParaRPr lang="en-IN" sz="2000" dirty="0"/>
          </a:p>
          <a:p>
            <a:pPr lvl="0" algn="just"/>
            <a:r>
              <a:rPr lang="en-IN" sz="2000" dirty="0"/>
              <a:t>IBM Cloud Agent Relevant Files</a:t>
            </a:r>
          </a:p>
          <a:p>
            <a:pPr lvl="0" algn="just"/>
            <a:r>
              <a:rPr lang="en-IN" sz="2000" dirty="0"/>
              <a:t>problemstatement.pdf</a:t>
            </a:r>
          </a:p>
          <a:p>
            <a:pPr lvl="0" algn="just"/>
            <a:r>
              <a:rPr lang="en-IN" sz="2000" dirty="0"/>
              <a:t>projectpresentation.pptx</a:t>
            </a:r>
          </a:p>
          <a:p>
            <a:pPr lvl="0" algn="just"/>
            <a:r>
              <a:rPr lang="en-IN" sz="2000" dirty="0"/>
              <a:t>README.md and other related project files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415128"/>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851F276-4EC8-2E35-B17B-3A1307ED19B5}"/>
              </a:ext>
            </a:extLst>
          </p:cNvPr>
          <p:cNvSpPr txBox="1"/>
          <p:nvPr/>
        </p:nvSpPr>
        <p:spPr>
          <a:xfrm>
            <a:off x="9419303" y="2222090"/>
            <a:ext cx="184731" cy="307777"/>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754552" cy="4277001"/>
          </a:xfrm>
          <a:prstGeom prst="rect">
            <a:avLst/>
          </a:prstGeom>
          <a:noFill/>
          <a:ln>
            <a:noFill/>
          </a:ln>
        </p:spPr>
        <p:txBody>
          <a:bodyPr spcFirstLastPara="1" wrap="square" lIns="0" tIns="0" rIns="0" bIns="0" anchor="t" anchorCtr="0">
            <a:noAutofit/>
          </a:bodyPr>
          <a:lstStyle/>
          <a:p>
            <a:pPr algn="just"/>
            <a:r>
              <a:rPr lang="en-IN" sz="2000" b="1" dirty="0"/>
              <a:t>1. Integration with Smart Charging Stations and IoT Devices </a:t>
            </a:r>
            <a:r>
              <a:rPr lang="en-IN" sz="2000" dirty="0"/>
              <a:t>– The system can be integrated with smart EV charging stations and Internet of Things (IoT) devices to collect real-time data such as battery level, charging speed, station availability, and electricity consumption. This enables the Electric Vehicle Charging Optimization Agent to recommend suitable charging stations, optimize charging schedules, and improve energy efficiency based on current conditions.</a:t>
            </a:r>
          </a:p>
          <a:p>
            <a:pPr algn="just"/>
            <a:endParaRPr lang="en-IN" sz="2000" dirty="0"/>
          </a:p>
          <a:p>
            <a:pPr algn="just"/>
            <a:r>
              <a:rPr lang="en-IN" sz="2000" b="1" dirty="0"/>
              <a:t>2. AI-Powered Voice Assistant and Multilingual Support </a:t>
            </a:r>
            <a:r>
              <a:rPr lang="en-IN" sz="2000" dirty="0"/>
              <a:t>– Enhancing the system with a voice-enabled assistant and multilingual support will improve accessibility and user convenience. EV owners can interact with the agent in their preferred language to find nearby charging stations, check charging costs, receive route-based charging recommendations, and get updates about station availability. This makes the solution more user-friendly and accessible to a wider range of electric vehicle users.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2F2A8327-D233-CA51-28CD-621483312354}"/>
              </a:ext>
            </a:extLst>
          </p:cNvPr>
          <p:cNvPicPr>
            <a:picLocks noChangeAspect="1"/>
          </p:cNvPicPr>
          <p:nvPr/>
        </p:nvPicPr>
        <p:blipFill>
          <a:blip r:embed="rId2"/>
          <a:stretch>
            <a:fillRect/>
          </a:stretch>
        </p:blipFill>
        <p:spPr>
          <a:xfrm>
            <a:off x="2119312" y="884488"/>
            <a:ext cx="7953375" cy="552107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A76D2647-0742-6612-F9A3-B3793351968C}"/>
              </a:ext>
            </a:extLst>
          </p:cNvPr>
          <p:cNvPicPr>
            <a:picLocks noChangeAspect="1"/>
          </p:cNvPicPr>
          <p:nvPr/>
        </p:nvPicPr>
        <p:blipFill>
          <a:blip r:embed="rId2"/>
          <a:stretch>
            <a:fillRect/>
          </a:stretch>
        </p:blipFill>
        <p:spPr>
          <a:xfrm>
            <a:off x="1297858" y="903499"/>
            <a:ext cx="9763432" cy="548255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1406</Words>
  <Application>Microsoft Office PowerPoint</Application>
  <PresentationFormat>Widescreen</PresentationFormat>
  <Paragraphs>130</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Javeed P</cp:lastModifiedBy>
  <cp:revision>26</cp:revision>
  <dcterms:created xsi:type="dcterms:W3CDTF">2025-07-08T05:06:56Z</dcterms:created>
  <dcterms:modified xsi:type="dcterms:W3CDTF">2026-10-10T12:45:37Z</dcterms:modified>
</cp:coreProperties>
</file>